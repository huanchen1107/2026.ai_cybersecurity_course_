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38BDF8"/>
                </a:solidFill>
                <a:latin typeface="Microsoft JhengHei"/>
              </a:defRPr>
            </a:pPr>
            <a:r>
              <a:t>AIIS</a:t>
            </a:r>
          </a:p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AI and Information Security</a:t>
            </a:r>
          </a:p>
          <a:p>
            <a:pPr>
              <a:defRPr sz="2800" b="1">
                <a:solidFill>
                  <a:srgbClr val="F59E0B"/>
                </a:solidFill>
                <a:latin typeface="Microsoft JhengHei"/>
              </a:defRPr>
            </a:pPr>
            <a:r>
              <a:t>人工智慧與資訊安全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2011680" cy="5486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AIIS_L0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0F2FE"/>
                </a:solidFill>
                <a:latin typeface="Microsoft JhengHei"/>
              </a:defRPr>
            </a:pPr>
            <a:r>
              <a:t>AI Revolution × Information Security</a:t>
            </a:r>
          </a:p>
          <a:p>
            <a:pPr>
              <a:defRPr sz="2200" i="1">
                <a:solidFill>
                  <a:srgbClr val="F59E0B"/>
                </a:solidFill>
                <a:latin typeface="Georgia"/>
              </a:defRPr>
            </a:pPr>
            <a:r>
              <a:t>✨ Welcome to started! ✨</a:t>
            </a:r>
          </a:p>
        </p:txBody>
      </p:sp>
      <p:pic>
        <p:nvPicPr>
          <p:cNvPr id="6" name="Picture 5" descr="huang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4747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課程大綱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Course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25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Four Industrial Revolutions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Revolution : ANI / AGI / 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× Information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Asset / Threat / Vulnerability /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Weather Security Center (CWA Open Data)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690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AI Engineering Toolchain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First Hands-on 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411480" cy="41148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66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What's Next?</a:t>
            </a:r>
          </a:p>
        </p:txBody>
      </p:sp>
      <p:pic>
        <p:nvPicPr>
          <p:cNvPr id="21" name="Picture 20" descr="avatar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200400" cy="411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20" y="53035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 i="1">
                <a:solidFill>
                  <a:srgbClr val="EA580C"/>
                </a:solidFill>
                <a:latin typeface="Georgia"/>
              </a:defRPr>
            </a:pPr>
            <a:r>
              <a:t>Let's get started! 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四大工業革命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Four Industrial Revolutions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3931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284C7"/>
                </a:solidFill>
                <a:latin typeface="Microsoft JhengHei"/>
              </a:defRPr>
            </a:pPr>
            <a:r>
              <a:t>🏭  第一次</a:t>
            </a:r>
            <a:br/>
            <a:r>
              <a:t>工業革命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19202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機械化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Machine Power</a:t>
            </a:r>
          </a:p>
          <a:p>
            <a:pPr algn="ctr"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18世紀末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63040"/>
            <a:ext cx="2468880" cy="3931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  <a:latin typeface="Microsoft JhengHei"/>
              </a:defRPr>
            </a:pPr>
            <a:r>
              <a:t>⚡  第二次</a:t>
            </a:r>
            <a:br/>
            <a:r>
              <a:t>能源革命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108960"/>
            <a:ext cx="192024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電力/石油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84048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Energy Power</a:t>
            </a:r>
          </a:p>
          <a:p>
            <a:pPr algn="ctr"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19-20世紀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463040"/>
            <a:ext cx="2468880" cy="3931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64592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  <a:latin typeface="Microsoft JhengHei"/>
              </a:defRPr>
            </a:pPr>
            <a:r>
              <a:t>💻  第三次</a:t>
            </a:r>
            <a:br/>
            <a:r>
              <a:t>資訊革命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108960"/>
            <a:ext cx="192024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電腦/網路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84048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Information Power</a:t>
            </a:r>
          </a:p>
          <a:p>
            <a:pPr algn="ctr"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20世紀末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463040"/>
            <a:ext cx="2468880" cy="3931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64592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7C3AED"/>
                </a:solidFill>
                <a:latin typeface="Microsoft JhengHei"/>
              </a:defRPr>
            </a:pPr>
            <a:r>
              <a:t>🤖  第四次</a:t>
            </a:r>
            <a:br/>
            <a:r>
              <a:t>AI 革命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108960"/>
            <a:ext cx="19202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人工智慧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4048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Intelligence Power</a:t>
            </a:r>
          </a:p>
          <a:p>
            <a:pPr algn="ctr"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21世紀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✨ AI 放大的是人類的智慧。 Next Level! 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AI 革命三個階段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Three Phases of AI Revolution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9260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284C7"/>
                </a:solidFill>
                <a:latin typeface="Microsoft JhengHei"/>
              </a:defRPr>
            </a:pPr>
            <a:r>
              <a:t>ANI</a:t>
            </a:r>
          </a:p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Artificial Narrow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834640"/>
            <a:ext cx="18288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現在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特定任務</a:t>
            </a:r>
            <a:br/>
            <a:r>
              <a:t>(語音、圖像、分類、偵測)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63040"/>
            <a:ext cx="29260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459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JhengHei"/>
              </a:defRPr>
            </a:pPr>
            <a:r>
              <a:t>AGI</a:t>
            </a:r>
          </a:p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Artificial General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834640"/>
            <a:ext cx="18288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未來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47472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通用智慧</a:t>
            </a:r>
            <a:br/>
            <a:r>
              <a:t>(跨領域學習、自主推理)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463040"/>
            <a:ext cx="29260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6459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11D48"/>
                </a:solidFill>
                <a:latin typeface="Microsoft JhengHei"/>
              </a:defRPr>
            </a:pPr>
            <a:r>
              <a:t>ASI</a:t>
            </a:r>
          </a:p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Artificial Superintelligence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1828800" cy="4572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更遠的未來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474720"/>
            <a:ext cx="2651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超越人類</a:t>
            </a:r>
            <a:br/>
            <a:r>
              <a:t>(超級自我迭代與演化)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“ AI 正在快速發展，我們需要更強的安全意識！” 🛡️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ANI 的三個階段（本課教學框架）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Three Stages of ANI (Our Teaching Framework)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6400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1. Discriminative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辨識 / 分類 / 預測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926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Spam / Not Spam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Phishing / Legitimate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Normal / Attack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2.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icrosoft JhengHei"/>
              </a:defRPr>
            </a:pPr>
            <a:r>
              <a:t>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2926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Text / Code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Image / Audio / Video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Vibe Coding API 端點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291840" cy="6400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3. Agentic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11D48"/>
                </a:solidFill>
                <a:latin typeface="Microsoft JhengHei"/>
              </a:defRPr>
            </a:pPr>
            <a:r>
              <a:t>規劃 / 使用工具 / 執行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2926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Plan → Act → Observe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讀寫檔案、執行指令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Multi-Agent 自主協作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從分析 → 生成 → 行動，AI 的能力正在擴大！ 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用「小偷東西」理解資安風險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Asset / Threat / Vulnerability /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💎</a:t>
            </a:r>
            <a:br/>
            <a:r>
              <a:t>Asset (資產)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1031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有價值的東西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194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現金、手機、電腦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存摺、重要資料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API Key、使用者密碼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63040"/>
            <a:ext cx="24688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7C3AED"/>
                </a:solidFill>
                <a:latin typeface="Microsoft JhengHei"/>
              </a:defRPr>
            </a:pPr>
            <a:r>
              <a:t>🦹‍♂️</a:t>
            </a:r>
            <a:br/>
            <a:r>
              <a:t>Threat (威脅)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651760"/>
            <a:ext cx="210312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潛在的小偷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00400"/>
            <a:ext cx="2194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Attacker (駭客)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惡意事件、天災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內部人員違規濫用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463040"/>
            <a:ext cx="24688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600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Microsoft JhengHei"/>
              </a:defRPr>
            </a:pPr>
            <a:r>
              <a:t>🔓</a:t>
            </a:r>
            <a:br/>
            <a:r>
              <a:t>Vulnerability (漏洞)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51760"/>
            <a:ext cx="2103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鎖沒做好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200400"/>
            <a:ext cx="2194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門未鎖、窗戶沒關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弱密碼、SQL 注入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未經驗證的 API 端點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463040"/>
            <a:ext cx="246888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6002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11D48"/>
                </a:solidFill>
                <a:latin typeface="Microsoft JhengHei"/>
              </a:defRPr>
            </a:pPr>
            <a:r>
              <a:t>⚠️</a:t>
            </a:r>
            <a:br/>
            <a:r>
              <a:t>Risk (風險)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651760"/>
            <a:ext cx="2103120" cy="411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造成的損失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00400"/>
            <a:ext cx="21945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財務損失、資料外洩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業務中斷、信譽受損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Microsoft JhengHei"/>
              </a:defRPr>
            </a:pPr>
            <a:r>
              <a:t>•  無法挽回的災難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“ 沒有 Asset，就沒有 Risk！資安從盤點資產開始！” 🛡️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資訊安全的 CIA 三要素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The CIA Triad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🔒  Confidentiality</a:t>
            </a:r>
          </a:p>
          <a:p>
            <a:pPr algn="ctr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機密性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43200"/>
            <a:ext cx="274320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誰可以看？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帳號密碼保護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API Key 私密保護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個人隱私與資料加密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✅  Integrity</a:t>
            </a:r>
          </a:p>
          <a:p>
            <a:pPr algn="ctr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完整性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743200"/>
            <a:ext cx="2743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誰可以改？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資料正確性防護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防止未授權竄改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可追溯性與校驗碼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931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Microsoft JhengHei"/>
              </a:defRPr>
            </a:pPr>
            <a:r>
              <a:t>⚡  Availability</a:t>
            </a:r>
          </a:p>
          <a:p>
            <a:pPr algn="ctr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可用性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274320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需要時能不能用？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服務不中斷運作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抵抗 DDoS 攻擊</a:t>
            </a:r>
          </a:p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• 備援與穩定運作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✨ Security = Trust ! 資訊安全是建立信任的唯一基石！ 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0292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C"/>
                </a:solidFill>
                <a:latin typeface="Microsoft JhengHei"/>
              </a:defRPr>
            </a:pPr>
            <a:r>
              <a:t>最後的話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Final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114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“ AI is the capability.</a:t>
            </a:r>
          </a:p>
          <a:p>
            <a:pPr>
              <a:spcAft>
                <a:spcPts val="600"/>
              </a:spcAft>
              <a:defRPr sz="2200" b="1">
                <a:solidFill>
                  <a:srgbClr val="E11D48"/>
                </a:solidFill>
                <a:latin typeface="Microsoft JhengHei"/>
              </a:defRPr>
            </a:pPr>
            <a:r>
              <a:t>   Cybersecurity is the discipline.</a:t>
            </a:r>
          </a:p>
          <a:p>
            <a:pPr>
              <a:spcAft>
                <a:spcPts val="600"/>
              </a:spcAft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   AI proposes.</a:t>
            </a:r>
          </a:p>
          <a:p>
            <a:pPr>
              <a:spcAft>
                <a:spcPts val="600"/>
              </a:spcAft>
              <a:defRPr sz="2200" b="1">
                <a:solidFill>
                  <a:srgbClr val="10B981"/>
                </a:solidFill>
                <a:latin typeface="Microsoft JhengHei"/>
              </a:defRPr>
            </a:pPr>
            <a:r>
              <a:t>   Human understands.</a:t>
            </a:r>
          </a:p>
          <a:p>
            <a:pPr>
              <a:spcAft>
                <a:spcPts val="600"/>
              </a:spcAft>
              <a:defRPr sz="2200" b="1">
                <a:solidFill>
                  <a:srgbClr val="F59E0B"/>
                </a:solidFill>
                <a:latin typeface="Microsoft JhengHei"/>
              </a:defRPr>
            </a:pPr>
            <a:r>
              <a:t>   Security validates. ”</a:t>
            </a:r>
          </a:p>
          <a:p>
            <a:pPr>
              <a:spcAft>
                <a:spcPts val="600"/>
              </a:spcAft>
              <a:defRPr sz="2000" b="1">
                <a:solidFill>
                  <a:srgbClr val="0B4F9C"/>
                </a:solidFill>
                <a:latin typeface="Microsoft JhengHei"/>
              </a:defRPr>
            </a:pPr>
            <a:r>
              <a:t>                               —— 煥哥</a:t>
            </a:r>
          </a:p>
        </p:txBody>
      </p:sp>
      <p:pic>
        <p:nvPicPr>
          <p:cNvPr id="6" name="Picture 5" descr="huang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4747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7295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B4F9C"/>
                </a:solidFill>
                <a:latin typeface="Microsoft JhengHei"/>
              </a:defRPr>
            </a:pPr>
            <a:r>
              <a:t>16 週，一個完整的 AI × 資安學習旅程。讓我們一起出發！ 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858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B4F9C"/>
                </a:solidFill>
                <a:latin typeface="Georgia"/>
              </a:defRPr>
            </a:pPr>
            <a:r>
              <a:t>☀️ Thank You !</a:t>
            </a:r>
          </a:p>
          <a:p>
            <a:pPr>
              <a:defRPr sz="3600" b="1" i="1">
                <a:solidFill>
                  <a:srgbClr val="F59E0B"/>
                </a:solidFill>
                <a:latin typeface="Georgia"/>
              </a:defRPr>
            </a:pPr>
            <a:r>
              <a:t>See you in AIIS_L1 !</a:t>
            </a:r>
          </a:p>
          <a:p>
            <a:br/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人工智慧與資訊安全 · 共同守護更安全的數位世界！</a:t>
            </a:r>
          </a:p>
        </p:txBody>
      </p:sp>
      <p:pic>
        <p:nvPicPr>
          <p:cNvPr id="4" name="Picture 3" descr="avatar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